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C0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0B2545"/>
          </a:solidFill>
          <a:ln w="25400">
            <a:solidFill>
              <a:srgbClr val="00C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HITEC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Orchestrating the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Building of 2026.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Technology &amp; Smart Building System Integrator.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0749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Eliminating vendor lock-in. Synchronizing multi-brand IT, Security, and Solar systems into a single intelligent management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9904" cy="5486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486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Foundation of Trust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14 years of physical security systems experience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 14 years of security systems experience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Uncompromising integrity, physical infrastructure mastery, and certified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731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Future of Unity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0" y="1280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Evolving from a siloed security integrator to a holistic smart building architect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9260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Evolving from a siloed security integrator to a holistic smart building architect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Pillars converging into 1 Unified Multi-Brand Dashboard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383280" cy="640080"/>
          </a:xfrm>
          <a:prstGeom prst="rightArrow">
            <a:avLst/>
          </a:prstGeom>
          <a:solidFill>
            <a:srgbClr val="0284C7"/>
          </a:solidFill>
          <a:ln w="19050">
            <a:solidFill>
              <a:srgbClr val="00C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711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5623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Since 2010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0" y="61264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Systems Experience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44952" y="5715000"/>
            <a:ext cx="0" cy="82296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5623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44952" y="61264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Delivered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9904" y="5715000"/>
            <a:ext cx="0" cy="82296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5623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Pillars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89904" y="61264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• Security • Solar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34856" y="5715000"/>
            <a:ext cx="0" cy="82296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5623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Dashboard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34856" y="61264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Multi-Brand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Specialized Pillars Converged into 1 Operational Brain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91840" cy="3108960"/>
          </a:xfrm>
          <a:prstGeom prst="roundRect">
            <a:avLst>
              <a:gd name="adj" fmla="val 5882"/>
            </a:avLst>
          </a:prstGeom>
          <a:solidFill>
            <a:srgbClr val="E0F2FE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Solutions &amp;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Automation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4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Enterprise Networking (Omada SDN)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4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Industrial OT Brokerage (SCADA/PLC)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4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Canary Labs Data Historian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4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In-House Web Apps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38160" y="1371600"/>
            <a:ext cx="3291840" cy="3108960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554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Systems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Access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0" y="24688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Intelligent Video (Hikvision/VIGI)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Biometrics &amp; Barrier Turnstiles (ZKTeco)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X-Ray Baggage &amp; Walkthrough Detectors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Central Alarm Panels (Honeywell)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3200400"/>
            <a:ext cx="3291840" cy="310896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383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 Integration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Renewable Energy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42976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Turnkey Rooftop PV (3kW - 20kW+)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Solar Karya Indonesia (SKI Partner)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Mono PERC &amp; Full-Black Architectural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 Hybrid Inverters &amp; Durability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1554480"/>
            <a:ext cx="3749040" cy="1280160"/>
          </a:xfrm>
          <a:prstGeom prst="roundRect">
            <a:avLst>
              <a:gd name="adj" fmla="val 10714"/>
            </a:avLst>
          </a:prstGeom>
          <a:solidFill>
            <a:srgbClr val="0A1628"/>
          </a:solidFill>
          <a:ln w="25400">
            <a:solidFill>
              <a:srgbClr val="00C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645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DASHBOARD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Operational Intelligence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1: IT &amp; AUTOMATION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Networking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Software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Commercial Networking: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TP-Link Omada SDN ecosystem (Wi-Fi 7/6 Access Points, L2+/L3 Managed PoE Switches, Multi-WAN VPN Gateways).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In-House Software Development: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Web Applications, Google AppSheet rapid solutions, and automated Excel Mini-ERP business logic.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45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OT Brokerage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(via OTINOVA)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5603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SCADA Systems: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AVEVA, HollySys industrial telemetry and supervisory control.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PLCs: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Rockwell Automation / Allen-Bradley industrial automation logic.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 Management: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Canary Labs Enterprise Data Historian, ABB Continuous Emission Monitoring Systems (CEMS) Gas Analyzers.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2: SECURITY &amp; ACCESS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Video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Surveillance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5603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Hikvision &amp; VIGI IP cameras, ColorPro ultra-low light, License Plate Recognition (LPR), 4G LTE cameras, and Fisheye panoramic systems converged with Omada Central.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Access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Barriers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5603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ZKTeco &amp; Bostex advanced solutions. High-throughput facial recognition, contactless palm scanners, fingerprint readers, tripod turnstiles, and smart digital locks.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37160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Intrusion &amp;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83880" y="25603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X-ray baggage scanners, walkthrough multi-zone metal detectors, and Honeywell central alarm control panels with automated zoning triggers.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39496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00C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Proven Milestone Project: The ASEAN Secretariat (ASEC) SG Residence Integrated Security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3: SOLAR &amp; RENEWABLE ENERGY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6583680" cy="49377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6217920" cy="45720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Partner: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Solar Karya Indonesia (SKI)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Turnkey Solutions: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 PRIME — All-in-1 Tinggal ON.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Standardized 3 kW to 20 kW complete rooftop PV turnkey packages.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Lines: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SK Standard (530W–550W Mono PERC Tier-1 Quality)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SK Black (440W–460W Full-Black Architectural Aesthetic)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SK Light &amp; Flexible (Compact, curved, and Marine/RV)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Guaranteed Durability: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25-Year Linear Power Warranty (≥84.8% power output at Year 25).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2400 Pa wind resistance / 5400 Pa snow load structural rating.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280160"/>
            <a:ext cx="3840480" cy="4937760"/>
          </a:xfrm>
          <a:prstGeom prst="roundRect">
            <a:avLst>
              <a:gd name="adj" fmla="val 357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645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Energy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63840" y="256032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Seamlessly feeding clean rooftop solar power directly into building telemetry.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Zero-export smart limits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Inverter telemetry integration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ROI &amp; carbon offset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Maintained by a collaborative network of world-class technology providers.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383280" cy="4663440"/>
          </a:xfrm>
          <a:prstGeom prst="roundRect">
            <a:avLst>
              <a:gd name="adj" fmla="val 4054"/>
            </a:avLst>
          </a:prstGeom>
          <a:solidFill>
            <a:srgbClr val="112240"/>
          </a:solidFill>
          <a:ln w="19050">
            <a:solidFill>
              <a:srgbClr val="00C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&amp; OT Ecosystem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TP-Link Omada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Robustel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Phoenix Contact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Dell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Cisco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AVEVA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Rockwell Automation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Canary Labs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383280" cy="4663440"/>
          </a:xfrm>
          <a:prstGeom prst="roundRect">
            <a:avLst>
              <a:gd name="adj" fmla="val 4054"/>
            </a:avLst>
          </a:prstGeom>
          <a:solidFill>
            <a:srgbClr val="112240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64592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Ecosystem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Hikvision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VIGI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ZKTeco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Bostex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Honeywell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Dahua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Uniview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383280" cy="4663440"/>
          </a:xfrm>
          <a:prstGeom prst="roundRect">
            <a:avLst>
              <a:gd name="adj" fmla="val 4054"/>
            </a:avLst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64592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 Ecosystem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3774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Solar Karya Indonesia (SKI)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ARCHITECTURAL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Excellence &amp; Multi-Brand Independence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Software-Driven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Elevating standard physical hardware with real-time cloud analytics and automation.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38160" y="137160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0" y="20574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clean solar energy integration and smart power management for modern infrastructure.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engineering, precise detailed design, and ethical standards across all client engagements.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402336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Success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47091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partnerships backed by responsive, SLA-driven technical support.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2194560"/>
            <a:ext cx="3291840" cy="256032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31750">
            <a:solidFill>
              <a:srgbClr val="00C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Multi-Brand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3200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Vendor-agnostic freedom — selecting optimal hardware tailored strictly to client operational needs.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TELEMETRY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Ecosystem Lock-In: Normalized Edge Telemetry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291840" cy="685800"/>
          </a:xfrm>
          <a:prstGeom prst="rightArrow">
            <a:avLst/>
          </a:prstGeom>
          <a:solidFill>
            <a:srgbClr val="00C0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Modbus RTU/TCP from Solar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3291840" cy="685800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ONVIF / RTSP from IP Cameras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291840" cy="68580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TCP/IP &amp; Wiegand Access Control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3291840" cy="685800"/>
          </a:xfrm>
          <a:prstGeom prst="rightArrow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Relays from Fire Panels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383280" cy="3291840"/>
          </a:xfrm>
          <a:prstGeom prst="roundRect">
            <a:avLst>
              <a:gd name="adj" fmla="val 5556"/>
            </a:avLst>
          </a:prstGeom>
          <a:solidFill>
            <a:srgbClr val="0F2942"/>
          </a:solidFill>
          <a:ln w="25400">
            <a:solidFill>
              <a:srgbClr val="00C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HITEC Edge Broker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2.3 TOPS NPU | Real-Time Linux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Normalizes raw proprietary protocols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Buffers offline data during outages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Edge encryption &amp; zero-trust auth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291840" cy="219456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(GCP)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Standardized, secure telemetry stream powering live web dashboards.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0C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no longer locked into one manufacturer's ecosystem.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normalize the data so you own the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PREMIUM, EXECUTIVE-READY SYNTHESIS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3749040"/>
          </a:xfrm>
          <a:prstGeom prst="roundRect">
            <a:avLst>
              <a:gd name="adj" fmla="val 5769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Solar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solar energy generation vs. building power consumption curves with peak shaving alerts.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5577840" cy="3749040"/>
          </a:xfrm>
          <a:prstGeom prst="roundRect">
            <a:avLst>
              <a:gd name="adj" fmla="val 3659"/>
            </a:avLst>
          </a:prstGeom>
          <a:solidFill>
            <a:srgbClr val="07111E"/>
          </a:solidFill>
          <a:ln w="25400">
            <a:solidFill>
              <a:srgbClr val="00C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HITEC Unified BAS / BMS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Energy Overview: Generation vs Consumption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Security Camera Feeds &amp; PTZ Patrol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Access Control Badge-In Logs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Climate Control Zoning &amp; Temperature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Infrastructure &amp; AP Health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52560" y="1188720"/>
            <a:ext cx="2377440" cy="3749040"/>
          </a:xfrm>
          <a:prstGeom prst="roundRect">
            <a:avLst>
              <a:gd name="adj" fmla="val 5769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Security &amp; 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35440" y="18288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live camera feeds, badge-ins, Wi-Fi 7 bandwidth usage, and PoE switch port health.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1663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Smart Building Management isn't just about collecting data — it's about cross-brand event synchronization.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fire alarm triggers, the access gates open, the cameras pan to the zone, and the dashboard alerts your phone.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 PORTFOLIO &amp; KEY PARTNERSHIPS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&amp; NGOs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ASEAN Secretariat (ASEC)   |   • International Federation of Red Cross   |   • Kementerian Pendidikan &amp; Kebudayaan   |   • Bawaslu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&amp; Financial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Blue Bird &amp; Blue Bird Group   |   • Mall Emporium Pluit   |   • Hotel Santika Premiere   |   • Clipan Finance   |   • Badan Kebijakan Fiskal - Kemenkeu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&amp; Education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RS. Columbia Asia   |   • Morula IVF Jakarta   |   • Yayasan - Universitas Kristen Indonesia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918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122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&amp; Logistics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8404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PT. Hutchison Ports Indonesia   |   • Nippon Paint - Cargo Ships   |   • PT. Inti Ganda Perdana   |   • PT. Kahatex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539496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 w="12700">
            <a:solidFill>
              <a:srgbClr val="00C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Securing and synchronizing the infrastructure of Indonesia's leading institutions.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5120640" cy="5029200"/>
          </a:xfrm>
          <a:prstGeom prst="roundRect">
            <a:avLst>
              <a:gd name="adj" fmla="val 3636"/>
            </a:avLst>
          </a:prstGeom>
          <a:solidFill>
            <a:srgbClr val="0284C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18872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0C4A6E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HITEC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Entity:
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PT. HITECSOLUTION TEKNOLOGI PRIMA (HITEC)
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NIB: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0806260054787
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NPWP: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10.000.000.0-987.4860
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PKP: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S-00133/SPPKP-CT/KPP.0605/2026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914400"/>
            <a:ext cx="5120640" cy="5029200"/>
          </a:xfrm>
          <a:prstGeom prst="roundRect">
            <a:avLst>
              <a:gd name="adj" fmla="val 3636"/>
            </a:avLst>
          </a:prstGeom>
          <a:solidFill>
            <a:srgbClr val="112240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280160"/>
            <a:ext cx="43891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HEADQUARTERS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Jl. Kampung Irian no. 4 RT 011 RW 006, Serdang, Kemayoran, Jakarta Pusat 10650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OFFICIAL WEBSITE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http://hitec.id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✉️ EMAIL INQUIRIES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contact@hitec.id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DIRECT / WHATSAPP
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0851 0351 0535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PT. HITECSOLUTION TEKNOLOGI PRIMA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PT. HITECSOLUTION TEKNOLOGI PRIMA - Company Profile 2026</dc:title>
  <dc:subject>Integrated Technology &amp; Smart Building System Integrator</dc:subject>
  <dc:creator>HITEC Technology Team</dc:creator>
  <cp:lastModifiedBy>HITEC Technology Team</cp:lastModifiedBy>
  <cp:revision>1</cp:revision>
  <dcterms:created xsi:type="dcterms:W3CDTF">2026-08-23T14:07:59Z</dcterms:created>
  <dcterms:modified xsi:type="dcterms:W3CDTF">2026-08-23T14:07:59Z</dcterms:modified>
</cp:coreProperties>
</file>